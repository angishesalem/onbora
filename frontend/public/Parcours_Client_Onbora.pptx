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97316"/>
                </a:solidFill>
              </a:defRPr>
            </a:pPr>
            <a:r>
              <a:t>PARCOURS CLIENT ONBORA B2B</a:t>
            </a:r>
          </a:p>
          <a:p>
            <a:pPr>
              <a:defRPr sz="3200" b="1">
                <a:solidFill>
                  <a:srgbClr val="FFFFFF"/>
                </a:solidFill>
              </a:defRPr>
            </a:pPr>
            <a:r>
              <a:t>Présentation du Parcours Utilisateur &amp; Diagnostic IA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2560320"/>
            <a:ext cx="3200400" cy="3474720"/>
          </a:xfrm>
          <a:prstGeom prst="roundRect">
            <a:avLst/>
          </a:prstGeom>
          <a:solidFill>
            <a:srgbClr val="18181B"/>
          </a:solidFill>
          <a:ln>
            <a:solidFill>
              <a:srgbClr val="525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97316"/>
                </a:solidFill>
              </a:defRPr>
            </a:pPr>
            <a:r>
              <a:t>👤 L'Utilisatrice</a:t>
            </a:r>
          </a:p>
          <a:p>
            <a:br/>
            <a:pPr>
              <a:defRPr sz="1400">
                <a:solidFill>
                  <a:srgbClr val="A1A1AA"/>
                </a:solidFill>
              </a:defRPr>
            </a:pPr>
            <a:r>
              <a:t>Marie Dupuis</a:t>
            </a:r>
            <a:br/>
            <a:r>
              <a:t>Gérante de PME B2B (15 salariés).</a:t>
            </a:r>
            <a:br/>
            <a:r>
              <a:t>Secteur : Restauration &amp; Services.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80560" y="2560320"/>
            <a:ext cx="3200400" cy="3474720"/>
          </a:xfrm>
          <a:prstGeom prst="roundRect">
            <a:avLst/>
          </a:prstGeom>
          <a:solidFill>
            <a:srgbClr val="18181B"/>
          </a:solidFill>
          <a:ln>
            <a:solidFill>
              <a:srgbClr val="525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97316"/>
                </a:solidFill>
              </a:defRPr>
            </a:pPr>
            <a:r>
              <a:t>🎯 L'Objectif</a:t>
            </a:r>
          </a:p>
          <a:p>
            <a:br/>
            <a:pPr>
              <a:defRPr sz="1400">
                <a:solidFill>
                  <a:srgbClr val="A1A1AA"/>
                </a:solidFill>
              </a:defRPr>
            </a:pPr>
            <a:r>
              <a:t>Définir son besoin Télécom &amp; Cloud et recevoir une recommandation sur-mesure d'Orange Business en &lt; 2 minutes.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2560320"/>
            <a:ext cx="3200400" cy="3474720"/>
          </a:xfrm>
          <a:prstGeom prst="roundRect">
            <a:avLst/>
          </a:prstGeom>
          <a:solidFill>
            <a:srgbClr val="18181B"/>
          </a:solidFill>
          <a:ln>
            <a:solidFill>
              <a:srgbClr val="525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97316"/>
                </a:solidFill>
              </a:defRPr>
            </a:pPr>
            <a:r>
              <a:t>⚡ La Difficulté</a:t>
            </a:r>
          </a:p>
          <a:p>
            <a:br/>
            <a:pPr>
              <a:defRPr sz="1400">
                <a:solidFill>
                  <a:srgbClr val="A1A1AA"/>
                </a:solidFill>
              </a:defRPr>
            </a:pPr>
            <a:r>
              <a:t>Complexité du jargon technique MSP, perte de temps pré-visite et incertitude sur le budget.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2011680" cy="365760"/>
          </a:xfrm>
          <a:prstGeom prst="round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VUE D'ENSEMBLE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Un parcours fluide de la découverte au provisioning en 5 étapes clés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286000"/>
            <a:ext cx="1920240" cy="3200400"/>
          </a:xfrm>
          <a:prstGeom prst="roundRect">
            <a:avLst/>
          </a:prstGeom>
          <a:solidFill>
            <a:srgbClr val="18181B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97316"/>
                </a:solidFill>
              </a:defRPr>
            </a:pPr>
            <a:r>
              <a:t>ÉTAPE 01</a:t>
            </a:r>
          </a:p>
          <a:p>
            <a:br/>
            <a:pPr>
              <a:defRPr sz="1600" b="1">
                <a:solidFill>
                  <a:srgbClr val="FFFFFF"/>
                </a:solidFill>
              </a:defRPr>
            </a:pPr>
            <a:r>
              <a:t>Découverte</a:t>
            </a:r>
            <a:br/>
          </a:p>
          <a:p>
            <a:pPr>
              <a:defRPr sz="1200">
                <a:solidFill>
                  <a:srgbClr val="A1A1AA"/>
                </a:solidFill>
              </a:defRPr>
            </a:pPr>
            <a:r>
              <a:t>Initiation de l'échange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2286000"/>
            <a:ext cx="1920240" cy="3200400"/>
          </a:xfrm>
          <a:prstGeom prst="roundRect">
            <a:avLst/>
          </a:prstGeom>
          <a:solidFill>
            <a:srgbClr val="18181B"/>
          </a:solidFill>
          <a:ln>
            <a:solidFill>
              <a:srgbClr val="525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97316"/>
                </a:solidFill>
              </a:defRPr>
            </a:pPr>
            <a:r>
              <a:t>ÉTAPE 02</a:t>
            </a:r>
          </a:p>
          <a:p>
            <a:br/>
            <a:pPr>
              <a:defRPr sz="1600" b="1">
                <a:solidFill>
                  <a:srgbClr val="FFFFFF"/>
                </a:solidFill>
              </a:defRPr>
            </a:pPr>
            <a:r>
              <a:t>Diagnostic</a:t>
            </a:r>
            <a:br/>
          </a:p>
          <a:p>
            <a:pPr>
              <a:defRPr sz="1200">
                <a:solidFill>
                  <a:srgbClr val="A1A1AA"/>
                </a:solidFill>
              </a:defRPr>
            </a:pPr>
            <a:r>
              <a:t>Saisie du besoin en LN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20640" y="2286000"/>
            <a:ext cx="1920240" cy="3200400"/>
          </a:xfrm>
          <a:prstGeom prst="roundRect">
            <a:avLst/>
          </a:prstGeom>
          <a:solidFill>
            <a:srgbClr val="18181B"/>
          </a:solidFill>
          <a:ln>
            <a:solidFill>
              <a:srgbClr val="525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97316"/>
                </a:solidFill>
              </a:defRPr>
            </a:pPr>
            <a:r>
              <a:t>ÉTAPE 03</a:t>
            </a:r>
          </a:p>
          <a:p>
            <a:br/>
            <a:pPr>
              <a:defRPr sz="1600" b="1">
                <a:solidFill>
                  <a:srgbClr val="FFFFFF"/>
                </a:solidFill>
              </a:defRPr>
            </a:pPr>
            <a:r>
              <a:t>Recommandation</a:t>
            </a:r>
            <a:br/>
          </a:p>
          <a:p>
            <a:pPr>
              <a:defRPr sz="1200">
                <a:solidFill>
                  <a:srgbClr val="A1A1AA"/>
                </a:solidFill>
              </a:defRPr>
            </a:pPr>
            <a:r>
              <a:t>Business Twin Avant/Après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199" y="2286000"/>
            <a:ext cx="1920240" cy="3200400"/>
          </a:xfrm>
          <a:prstGeom prst="roundRect">
            <a:avLst/>
          </a:prstGeom>
          <a:solidFill>
            <a:srgbClr val="18181B"/>
          </a:solidFill>
          <a:ln>
            <a:solidFill>
              <a:srgbClr val="525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97316"/>
                </a:solidFill>
              </a:defRPr>
            </a:pPr>
            <a:r>
              <a:t>ÉTAPE 04</a:t>
            </a:r>
          </a:p>
          <a:p>
            <a:br/>
            <a:pPr>
              <a:defRPr sz="1600" b="1">
                <a:solidFill>
                  <a:srgbClr val="FFFFFF"/>
                </a:solidFill>
              </a:defRPr>
            </a:pPr>
            <a:r>
              <a:t>Branchement IA</a:t>
            </a:r>
            <a:br/>
          </a:p>
          <a:p>
            <a:pPr>
              <a:defRPr sz="1200">
                <a:solidFill>
                  <a:srgbClr val="A1A1AA"/>
                </a:solidFill>
              </a:defRPr>
            </a:pPr>
            <a:r>
              <a:t>Devis Auto vs Route KAM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09760" y="2286000"/>
            <a:ext cx="1920240" cy="3200400"/>
          </a:xfrm>
          <a:prstGeom prst="roundRect">
            <a:avLst/>
          </a:prstGeom>
          <a:solidFill>
            <a:srgbClr val="18181B"/>
          </a:solidFill>
          <a:ln>
            <a:solidFill>
              <a:srgbClr val="525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97316"/>
                </a:solidFill>
              </a:defRPr>
            </a:pPr>
            <a:r>
              <a:t>ÉTAPE 05</a:t>
            </a:r>
          </a:p>
          <a:p>
            <a:br/>
            <a:pPr>
              <a:defRPr sz="1600" b="1">
                <a:solidFill>
                  <a:srgbClr val="FFFFFF"/>
                </a:solidFill>
              </a:defRPr>
            </a:pPr>
            <a:r>
              <a:t>Transmission</a:t>
            </a:r>
            <a:br/>
          </a:p>
          <a:p>
            <a:pPr>
              <a:defRPr sz="1200">
                <a:solidFill>
                  <a:srgbClr val="A1A1AA"/>
                </a:solidFill>
              </a:defRPr>
            </a:pPr>
            <a:r>
              <a:t>Dossier Qualifié CRM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2011680" cy="365760"/>
          </a:xfrm>
          <a:prstGeom prst="round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ÉTAPE 01 — DÉCOUVERTE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Marie accède au copilote Onbora et choisit son canal d'interaction</a:t>
            </a:r>
          </a:p>
        </p:txBody>
      </p:sp>
      <p:pic>
        <p:nvPicPr>
          <p:cNvPr id="4" name="Picture 3" descr="step1_discovery_desk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28800"/>
            <a:ext cx="7498079" cy="4686299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503920" y="1828800"/>
            <a:ext cx="2926080" cy="4389120"/>
          </a:xfrm>
          <a:prstGeom prst="roundRect">
            <a:avLst/>
          </a:prstGeom>
          <a:solidFill>
            <a:srgbClr val="18181B"/>
          </a:solidFill>
          <a:ln>
            <a:solidFill>
              <a:srgbClr val="525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97316"/>
                </a:solidFill>
              </a:defRPr>
            </a:pPr>
            <a:r>
              <a:t>🎯 ACTION CLÉ</a:t>
            </a:r>
          </a:p>
          <a:p>
            <a:br/>
            <a:pPr>
              <a:defRPr sz="1300" b="1">
                <a:solidFill>
                  <a:srgbClr val="FFFFFF"/>
                </a:solidFill>
              </a:defRPr>
            </a:pPr>
            <a:r>
              <a:t>① Clic d'activation Onbora</a:t>
            </a:r>
            <a:br/>
          </a:p>
          <a:p>
            <a:pPr>
              <a:defRPr sz="1400" b="1">
                <a:solidFill>
                  <a:srgbClr val="F97316"/>
                </a:solidFill>
              </a:defRPr>
            </a:pPr>
            <a:r>
              <a:t>💡 REMARQUE UX</a:t>
            </a:r>
          </a:p>
          <a:p>
            <a:br/>
            <a:pPr>
              <a:defRPr sz="1300">
                <a:solidFill>
                  <a:srgbClr val="A1A1AA"/>
                </a:solidFill>
              </a:defRPr>
            </a:pPr>
            <a:r>
              <a:t>Accueil direct sans formulaire complexe. Marie exprime immédiatement son besoin.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2011680" cy="365760"/>
          </a:xfrm>
          <a:prstGeom prst="round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ÉTAPE 02 — DIAGNOSTIC &amp; SAISIE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Marie exprime son besoin en langage naturel, l'IA extrait la structure</a:t>
            </a:r>
          </a:p>
        </p:txBody>
      </p:sp>
      <p:pic>
        <p:nvPicPr>
          <p:cNvPr id="4" name="Picture 3" descr="step2_diagnostic_desk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28800"/>
            <a:ext cx="7498079" cy="4686299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503920" y="1828800"/>
            <a:ext cx="2926080" cy="4389120"/>
          </a:xfrm>
          <a:prstGeom prst="roundRect">
            <a:avLst/>
          </a:prstGeom>
          <a:solidFill>
            <a:srgbClr val="18181B"/>
          </a:solidFill>
          <a:ln>
            <a:solidFill>
              <a:srgbClr val="525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97316"/>
                </a:solidFill>
              </a:defRPr>
            </a:pPr>
            <a:r>
              <a:t>🎯 ACTION CLÉ</a:t>
            </a:r>
          </a:p>
          <a:p>
            <a:br/>
            <a:pPr>
              <a:defRPr sz="1300" b="1">
                <a:solidFill>
                  <a:srgbClr val="FFFFFF"/>
                </a:solidFill>
              </a:defRPr>
            </a:pPr>
            <a:r>
              <a:t>① Champ de dialogue intelligent</a:t>
            </a:r>
            <a:br/>
          </a:p>
          <a:p>
            <a:pPr>
              <a:defRPr sz="1400" b="1">
                <a:solidFill>
                  <a:srgbClr val="F97316"/>
                </a:solidFill>
              </a:defRPr>
            </a:pPr>
            <a:r>
              <a:t>💡 REMARQUE UX</a:t>
            </a:r>
          </a:p>
          <a:p>
            <a:br/>
            <a:pPr>
              <a:defRPr sz="1300">
                <a:solidFill>
                  <a:srgbClr val="A1A1AA"/>
                </a:solidFill>
              </a:defRPr>
            </a:pPr>
            <a:r>
              <a:t>L'IA identifie la taille d'entreprise, les pannes de paiement et la faible bande passante.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2011680" cy="365760"/>
          </a:xfrm>
          <a:prstGeom prst="round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ÉTAPE 03 — RECOMMANDATION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Onbora génère le Business Twin Avant / Après et préconise les solutions</a:t>
            </a:r>
          </a:p>
        </p:txBody>
      </p:sp>
      <p:pic>
        <p:nvPicPr>
          <p:cNvPr id="4" name="Picture 3" descr="step3_recommendation_desk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28800"/>
            <a:ext cx="7498079" cy="4686299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503920" y="1828800"/>
            <a:ext cx="2926080" cy="4389120"/>
          </a:xfrm>
          <a:prstGeom prst="roundRect">
            <a:avLst/>
          </a:prstGeom>
          <a:solidFill>
            <a:srgbClr val="18181B"/>
          </a:solidFill>
          <a:ln>
            <a:solidFill>
              <a:srgbClr val="525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97316"/>
                </a:solidFill>
              </a:defRPr>
            </a:pPr>
            <a:r>
              <a:t>🎯 ACTION CLÉ</a:t>
            </a:r>
          </a:p>
          <a:p>
            <a:br/>
            <a:pPr>
              <a:defRPr sz="1300" b="1">
                <a:solidFill>
                  <a:srgbClr val="FFFFFF"/>
                </a:solidFill>
              </a:defRPr>
            </a:pPr>
            <a:r>
              <a:t>① Carte Business Twin</a:t>
            </a:r>
            <a:br/>
          </a:p>
          <a:p>
            <a:pPr>
              <a:defRPr sz="1400" b="1">
                <a:solidFill>
                  <a:srgbClr val="F97316"/>
                </a:solidFill>
              </a:defRPr>
            </a:pPr>
            <a:r>
              <a:t>💡 REMARQUE UX</a:t>
            </a:r>
          </a:p>
          <a:p>
            <a:br/>
            <a:pPr>
              <a:defRPr sz="1300">
                <a:solidFill>
                  <a:srgbClr val="A1A1AA"/>
                </a:solidFill>
              </a:defRPr>
            </a:pPr>
            <a:r>
              <a:t>La transformation est lisible instantanément : Fibre Pro + Terminal Sécurisé.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2011680" cy="365760"/>
          </a:xfrm>
          <a:prstGeom prst="round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ÉTAPE 04 — EMBRANCHEMENT CONDITIONNEL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Selon la complexité, Onbora aiguille vers un Devis Auto ou un Expert KAM</a:t>
            </a:r>
          </a:p>
        </p:txBody>
      </p:sp>
      <p:pic>
        <p:nvPicPr>
          <p:cNvPr id="4" name="Picture 3" descr="step4_kam_transmission_desk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28800"/>
            <a:ext cx="7498079" cy="4686299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503920" y="1828800"/>
            <a:ext cx="2926080" cy="4389120"/>
          </a:xfrm>
          <a:prstGeom prst="roundRect">
            <a:avLst/>
          </a:prstGeom>
          <a:solidFill>
            <a:srgbClr val="18181B"/>
          </a:solidFill>
          <a:ln>
            <a:solidFill>
              <a:srgbClr val="525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97316"/>
                </a:solidFill>
              </a:defRPr>
            </a:pPr>
            <a:r>
              <a:t>🎯 ACTION CLÉ</a:t>
            </a:r>
          </a:p>
          <a:p>
            <a:br/>
            <a:pPr>
              <a:defRPr sz="1300" b="1">
                <a:solidFill>
                  <a:srgbClr val="FFFFFF"/>
                </a:solidFill>
              </a:defRPr>
            </a:pPr>
            <a:r>
              <a:t>① Matrice de Décision</a:t>
            </a:r>
            <a:br/>
          </a:p>
          <a:p>
            <a:pPr>
              <a:defRPr sz="1400" b="1">
                <a:solidFill>
                  <a:srgbClr val="F97316"/>
                </a:solidFill>
              </a:defRPr>
            </a:pPr>
            <a:r>
              <a:t>💡 REMARQUE UX</a:t>
            </a:r>
          </a:p>
          <a:p>
            <a:br/>
            <a:pPr>
              <a:defRPr sz="1300">
                <a:solidFill>
                  <a:srgbClr val="A1A1AA"/>
                </a:solidFill>
              </a:defRPr>
            </a:pPr>
            <a:r>
              <a:t>SI besoin &gt; 50 lignes ➔ Route KAM. SI besoin standard ➔ Devis immédiat.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2011680" cy="365760"/>
          </a:xfrm>
          <a:prstGeom prst="round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ÉTAPE 05 — TRANSMISSION &amp; ACCORD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Le dossier est transmis au CRM avec zéro perte d'information</a:t>
            </a:r>
          </a:p>
        </p:txBody>
      </p:sp>
      <p:pic>
        <p:nvPicPr>
          <p:cNvPr id="4" name="Picture 3" descr="step5_admin_confirmation_desk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28800"/>
            <a:ext cx="7498079" cy="4686299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503920" y="1828800"/>
            <a:ext cx="2926080" cy="4389120"/>
          </a:xfrm>
          <a:prstGeom prst="roundRect">
            <a:avLst/>
          </a:prstGeom>
          <a:solidFill>
            <a:srgbClr val="18181B"/>
          </a:solidFill>
          <a:ln>
            <a:solidFill>
              <a:srgbClr val="525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97316"/>
                </a:solidFill>
              </a:defRPr>
            </a:pPr>
            <a:r>
              <a:t>🎯 ACTION CLÉ</a:t>
            </a:r>
          </a:p>
          <a:p>
            <a:br/>
            <a:pPr>
              <a:defRPr sz="1300" b="1">
                <a:solidFill>
                  <a:srgbClr val="FFFFFF"/>
                </a:solidFill>
              </a:defRPr>
            </a:pPr>
            <a:r>
              <a:t>① Validation &amp; Kaabu Sync</a:t>
            </a:r>
            <a:br/>
          </a:p>
          <a:p>
            <a:pPr>
              <a:defRPr sz="1400" b="1">
                <a:solidFill>
                  <a:srgbClr val="F97316"/>
                </a:solidFill>
              </a:defRPr>
            </a:pPr>
            <a:r>
              <a:t>💡 REMARQUE UX</a:t>
            </a:r>
          </a:p>
          <a:p>
            <a:br/>
            <a:pPr>
              <a:defRPr sz="1300">
                <a:solidFill>
                  <a:srgbClr val="A1A1AA"/>
                </a:solidFill>
              </a:defRPr>
            </a:pPr>
            <a:r>
              <a:t>Le commercial et le KAM reçoivent le brief qualifié avec les opportunités pré-remplies.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2011680" cy="365760"/>
          </a:xfrm>
          <a:prstGeom prst="round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RÉSULTAT FINAL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Un gain de temps massif et une qualification parfaite des opportunités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2011680"/>
            <a:ext cx="4754880" cy="1828800"/>
          </a:xfrm>
          <a:prstGeom prst="roundRect">
            <a:avLst/>
          </a:prstGeom>
          <a:solidFill>
            <a:srgbClr val="18181B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97316"/>
                </a:solidFill>
              </a:defRPr>
            </a:pPr>
            <a:r>
              <a:t>⏱️ -95% de Temps</a:t>
            </a:r>
          </a:p>
          <a:p>
            <a:br/>
            <a:pPr>
              <a:defRPr sz="1400">
                <a:solidFill>
                  <a:srgbClr val="A1A1AA"/>
                </a:solidFill>
              </a:defRPr>
            </a:pPr>
            <a:r>
              <a:t>Temps de qualification réduit de 48 heures à moins de 2 minutes.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2011680"/>
            <a:ext cx="4754880" cy="1828800"/>
          </a:xfrm>
          <a:prstGeom prst="roundRect">
            <a:avLst/>
          </a:prstGeom>
          <a:solidFill>
            <a:srgbClr val="18181B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97316"/>
                </a:solidFill>
              </a:defRPr>
            </a:pPr>
            <a:r>
              <a:t>📈 +35% Conversion</a:t>
            </a:r>
          </a:p>
          <a:p>
            <a:br/>
            <a:pPr>
              <a:defRPr sz="1400">
                <a:solidFill>
                  <a:srgbClr val="A1A1AA"/>
                </a:solidFill>
              </a:defRPr>
            </a:pPr>
            <a:r>
              <a:t>Les offres visualisées via Business Twin se convertissent beaucoup plus rapidement.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4206240"/>
            <a:ext cx="4754880" cy="1828800"/>
          </a:xfrm>
          <a:prstGeom prst="roundRect">
            <a:avLst/>
          </a:prstGeom>
          <a:solidFill>
            <a:srgbClr val="18181B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97316"/>
                </a:solidFill>
              </a:defRPr>
            </a:pPr>
            <a:r>
              <a:t>🤝 0% Perte d'Info</a:t>
            </a:r>
          </a:p>
          <a:p>
            <a:br/>
            <a:pPr>
              <a:defRPr sz="1400">
                <a:solidFill>
                  <a:srgbClr val="A1A1AA"/>
                </a:solidFill>
              </a:defRPr>
            </a:pPr>
            <a:r>
              <a:t>Transmission exhaustive des données du prospecteur vers le KAM.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4206240"/>
            <a:ext cx="4754880" cy="1828800"/>
          </a:xfrm>
          <a:prstGeom prst="roundRect">
            <a:avLst/>
          </a:prstGeom>
          <a:solidFill>
            <a:srgbClr val="18181B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97316"/>
                </a:solidFill>
              </a:defRPr>
            </a:pPr>
            <a:r>
              <a:t>🔒 100% Conforme</a:t>
            </a:r>
          </a:p>
          <a:p>
            <a:br/>
            <a:pPr>
              <a:defRPr sz="1400">
                <a:solidFill>
                  <a:srgbClr val="A1A1AA"/>
                </a:solidFill>
              </a:defRPr>
            </a:pPr>
            <a:r>
              <a:t>Validation automatique de l'éligibilité technique et des règles MSP.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2011680" cy="365760"/>
          </a:xfrm>
          <a:prstGeom prst="round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Bilan du parcours et prochaines étapes de mise en production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5120640" cy="4114800"/>
          </a:xfrm>
          <a:prstGeom prst="roundRect">
            <a:avLst/>
          </a:prstGeom>
          <a:solidFill>
            <a:srgbClr val="18181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✅ Points Forts Réussis</a:t>
            </a:r>
          </a:p>
          <a:p>
            <a:br/>
            <a:pPr>
              <a:defRPr sz="1400">
                <a:solidFill>
                  <a:srgbClr val="A1A1AA"/>
                </a:solidFill>
              </a:defRPr>
            </a:pPr>
            <a:r>
              <a:t>• Expérience utilisateur captivante et guidée par l'IA.</a:t>
            </a:r>
            <a:br/>
            <a:r>
              <a:t>• Clarté visuelle du Business Twin (Avant/Après).</a:t>
            </a:r>
            <a:br/>
            <a:r>
              <a:t>• Alignement total avec la charte graphique Orange Business.</a:t>
            </a:r>
            <a:br/>
            <a:r>
              <a:t>• Branchement intelligent selon le niveau de complexité.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2011680"/>
            <a:ext cx="5120640" cy="4114800"/>
          </a:xfrm>
          <a:prstGeom prst="roundRect">
            <a:avLst/>
          </a:prstGeom>
          <a:solidFill>
            <a:srgbClr val="18181B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97316"/>
                </a:solidFill>
              </a:defRPr>
            </a:pPr>
            <a:r>
              <a:t>🚀 Recommandations &amp; Prochaines Étapes</a:t>
            </a:r>
          </a:p>
          <a:p>
            <a:br/>
            <a:pPr>
              <a:defRPr sz="1400">
                <a:solidFill>
                  <a:srgbClr val="A1A1AA"/>
                </a:solidFill>
              </a:defRPr>
            </a:pPr>
            <a:r>
              <a:t>• Intégration directe avec l'API Kaabu CRM d'Orange.</a:t>
            </a:r>
            <a:br/>
            <a:r>
              <a:t>• Ajout du canal WhatsApp Business &amp; Mini-App Maxit.</a:t>
            </a:r>
            <a:br/>
            <a:r>
              <a:t>• Déploiement des tests A/B sur le taux de complétion.</a:t>
            </a:r>
            <a:br/>
            <a:r>
              <a:t>• DÉCISION ATTENDUE : Validation du plan de mise en production.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